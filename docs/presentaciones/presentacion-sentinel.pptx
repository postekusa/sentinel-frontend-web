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postekusa.github.io/sentinel-frontend-web/dashboard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BFE"/>
            </a:gs>
            <a:gs pos="100000">
              <a:srgbClr val="EEF5FB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>
              <a:gd name="adj" fmla="val 6000"/>
            </a:avLst>
          </a:prstGeom>
          <a:solidFill>
            <a:srgbClr val="0A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post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1440" y="18288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6446520"/>
            <a:ext cx="12191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A929C"/>
                </a:solidFill>
                <a:latin typeface="Segoe UI"/>
              </a:defRPr>
            </a:pPr>
            <a:r>
              <a:t>© POSTEKUSA 1999 - 2026</a:t>
            </a:r>
          </a:p>
        </p:txBody>
      </p:sp>
      <p:pic>
        <p:nvPicPr>
          <p:cNvPr id="5" name="Picture 4" descr="logo-post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007" y="1645920"/>
            <a:ext cx="2011680" cy="2011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393192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4171C"/>
                </a:solidFill>
                <a:latin typeface="Segoe UI"/>
              </a:defRPr>
            </a:pPr>
            <a:r>
              <a:t>POSTEK SENTINEL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0292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0A5FA5"/>
                </a:solidFill>
                <a:latin typeface="Segoe UI"/>
              </a:defRPr>
            </a:pPr>
            <a:r>
              <a:t>Sistema de Gestion Integral de Terminales POS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BFE"/>
            </a:gs>
            <a:gs pos="100000">
              <a:srgbClr val="EEF5FB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>
              <a:gd name="adj" fmla="val 6000"/>
            </a:avLst>
          </a:prstGeom>
          <a:solidFill>
            <a:srgbClr val="0A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post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1440" y="18288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6446520"/>
            <a:ext cx="12191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A929C"/>
                </a:solidFill>
                <a:latin typeface="Segoe UI"/>
              </a:defRPr>
            </a:pPr>
            <a:r>
              <a:t>© POSTEKUSA 1999 - 2026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14171C"/>
                </a:solidFill>
                <a:latin typeface="Segoe UI"/>
              </a:defRPr>
            </a:pPr>
            <a:r>
              <a:t>Modulos Principales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11480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4114800" cy="54864"/>
          </a:xfrm>
          <a:prstGeom prst="roundRect">
            <a:avLst>
              <a:gd name="adj" fmla="val 6000"/>
            </a:avLst>
          </a:prstGeom>
          <a:solidFill>
            <a:srgbClr val="0A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A5FA5"/>
                </a:solidFill>
                <a:latin typeface="Segoe UI"/>
              </a:defRPr>
            </a:pPr>
            <a:r>
              <a:t>Monitoreo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A5FA5"/>
                </a:solidFill>
              </a:rPr>
              <a:t> •  </a:t>
            </a:r>
            <a:r>
              <a:rPr sz="1800">
                <a:solidFill>
                  <a:srgbClr val="4A515B"/>
                </a:solidFill>
                <a:latin typeface="Segoe UI"/>
              </a:rPr>
              <a:t>Vista General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5FA5"/>
                </a:solidFill>
              </a:rPr>
              <a:t> •  </a:t>
            </a:r>
            <a:r>
              <a:rPr sz="1800">
                <a:solidFill>
                  <a:srgbClr val="4A515B"/>
                </a:solidFill>
                <a:latin typeface="Segoe UI"/>
              </a:rPr>
              <a:t>Dispositivos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5FA5"/>
                </a:solidFill>
              </a:rPr>
              <a:t> •  </a:t>
            </a:r>
            <a:r>
              <a:rPr sz="1800">
                <a:solidFill>
                  <a:srgbClr val="4A515B"/>
                </a:solidFill>
                <a:latin typeface="Segoe UI"/>
              </a:rPr>
              <a:t>Mapa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1645920"/>
            <a:ext cx="61264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03520" y="1645920"/>
            <a:ext cx="6126480" cy="54864"/>
          </a:xfrm>
          <a:prstGeom prst="roundRect">
            <a:avLst>
              <a:gd name="adj" fmla="val 6000"/>
            </a:avLst>
          </a:prstGeom>
          <a:solidFill>
            <a:srgbClr val="084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1920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84A82"/>
                </a:solidFill>
                <a:latin typeface="Segoe UI"/>
              </a:defRPr>
            </a:pPr>
            <a:r>
              <a:t>Administracion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256032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0A5FA5"/>
                </a:solidFill>
              </a:rPr>
              <a:t> •  </a:t>
            </a:r>
            <a:r>
              <a:rPr sz="1600">
                <a:solidFill>
                  <a:srgbClr val="4A515B"/>
                </a:solidFill>
                <a:latin typeface="Segoe UI"/>
              </a:rPr>
              <a:t>Marcas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A5FA5"/>
                </a:solidFill>
              </a:rPr>
              <a:t> •  </a:t>
            </a:r>
            <a:r>
              <a:rPr sz="1600">
                <a:solidFill>
                  <a:srgbClr val="4A515B"/>
                </a:solidFill>
                <a:latin typeface="Segoe UI"/>
              </a:rPr>
              <a:t>Compras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A5FA5"/>
                </a:solidFill>
              </a:rPr>
              <a:t> •  </a:t>
            </a:r>
            <a:r>
              <a:rPr sz="1600">
                <a:solidFill>
                  <a:srgbClr val="4A515B"/>
                </a:solidFill>
                <a:latin typeface="Segoe UI"/>
              </a:rPr>
              <a:t>Recepcion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A5FA5"/>
                </a:solidFill>
              </a:rPr>
              <a:t> •  </a:t>
            </a:r>
            <a:r>
              <a:rPr sz="1600">
                <a:solidFill>
                  <a:srgbClr val="4A515B"/>
                </a:solidFill>
                <a:latin typeface="Segoe UI"/>
              </a:rPr>
              <a:t>Inventario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A5FA5"/>
                </a:solidFill>
              </a:rPr>
              <a:t> •  </a:t>
            </a:r>
            <a:r>
              <a:rPr sz="1600">
                <a:solidFill>
                  <a:srgbClr val="4A515B"/>
                </a:solidFill>
                <a:latin typeface="Segoe UI"/>
              </a:rPr>
              <a:t>Comercios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A5FA5"/>
                </a:solidFill>
              </a:rPr>
              <a:t> •  </a:t>
            </a:r>
            <a:r>
              <a:rPr sz="1600">
                <a:solidFill>
                  <a:srgbClr val="4A515B"/>
                </a:solidFill>
                <a:latin typeface="Segoe UI"/>
              </a:rPr>
              <a:t>Vista General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A5FA5"/>
                </a:solidFill>
              </a:rPr>
              <a:t> •  </a:t>
            </a:r>
            <a:r>
              <a:rPr sz="1600">
                <a:solidFill>
                  <a:srgbClr val="4A515B"/>
                </a:solidFill>
                <a:latin typeface="Segoe UI"/>
              </a:rPr>
              <a:t>Subir Inventario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A5FA5"/>
                </a:solidFill>
              </a:rPr>
              <a:t> •  </a:t>
            </a:r>
            <a:r>
              <a:rPr sz="1600">
                <a:solidFill>
                  <a:srgbClr val="4A515B"/>
                </a:solidFill>
                <a:latin typeface="Segoe UI"/>
              </a:rPr>
              <a:t>Bodega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A5FA5"/>
                </a:solidFill>
              </a:rPr>
              <a:t> •  </a:t>
            </a:r>
            <a:r>
              <a:rPr sz="1600">
                <a:solidFill>
                  <a:srgbClr val="4A515B"/>
                </a:solidFill>
                <a:latin typeface="Segoe UI"/>
              </a:rPr>
              <a:t>Inyeccion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A5FA5"/>
                </a:solidFill>
              </a:rPr>
              <a:t> •  </a:t>
            </a:r>
            <a:r>
              <a:rPr sz="1600">
                <a:solidFill>
                  <a:srgbClr val="4A515B"/>
                </a:solidFill>
                <a:latin typeface="Segoe UI"/>
              </a:rPr>
              <a:t>Asignados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56032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0A5FA5"/>
                </a:solidFill>
              </a:rPr>
              <a:t> •  </a:t>
            </a:r>
            <a:r>
              <a:rPr sz="1600">
                <a:solidFill>
                  <a:srgbClr val="4A515B"/>
                </a:solidFill>
                <a:latin typeface="Segoe UI"/>
              </a:rPr>
              <a:t>Reparacion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A5FA5"/>
                </a:solidFill>
              </a:rPr>
              <a:t> •  </a:t>
            </a:r>
            <a:r>
              <a:rPr sz="1600">
                <a:solidFill>
                  <a:srgbClr val="4A515B"/>
                </a:solidFill>
                <a:latin typeface="Segoe UI"/>
              </a:rPr>
              <a:t>Garantia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A5FA5"/>
                </a:solidFill>
              </a:rPr>
              <a:t> •  </a:t>
            </a:r>
            <a:r>
              <a:rPr sz="1600">
                <a:solidFill>
                  <a:srgbClr val="4A515B"/>
                </a:solidFill>
                <a:latin typeface="Segoe UI"/>
              </a:rPr>
              <a:t>SIM Cards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A5FA5"/>
                </a:solidFill>
              </a:rPr>
              <a:t> •  </a:t>
            </a:r>
            <a:r>
              <a:rPr sz="1600">
                <a:solidFill>
                  <a:srgbClr val="4A515B"/>
                </a:solidFill>
                <a:latin typeface="Segoe UI"/>
              </a:rPr>
              <a:t>Merchant Config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A5FA5"/>
                </a:solidFill>
              </a:rPr>
              <a:t> •  </a:t>
            </a:r>
            <a:r>
              <a:rPr sz="1600">
                <a:solidFill>
                  <a:srgbClr val="4A515B"/>
                </a:solidFill>
                <a:latin typeface="Segoe UI"/>
              </a:rPr>
              <a:t>Inicializaciones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A5FA5"/>
                </a:solidFill>
              </a:rPr>
              <a:t> •  </a:t>
            </a:r>
            <a:r>
              <a:rPr sz="1600">
                <a:solidFill>
                  <a:srgbClr val="4A515B"/>
                </a:solidFill>
                <a:latin typeface="Segoe UI"/>
              </a:rPr>
              <a:t>Trafico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A5FA5"/>
                </a:solidFill>
              </a:rPr>
              <a:t> •  </a:t>
            </a:r>
            <a:r>
              <a:rPr sz="1600">
                <a:solidFill>
                  <a:srgbClr val="4A515B"/>
                </a:solidFill>
                <a:latin typeface="Segoe UI"/>
              </a:rPr>
              <a:t>Requisiciones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A5FA5"/>
                </a:solidFill>
              </a:rPr>
              <a:t> •  </a:t>
            </a:r>
            <a:r>
              <a:rPr sz="1600">
                <a:solidFill>
                  <a:srgbClr val="4A515B"/>
                </a:solidFill>
                <a:latin typeface="Segoe UI"/>
              </a:rPr>
              <a:t>Soporte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A5FA5"/>
                </a:solidFill>
              </a:rPr>
              <a:t> •  </a:t>
            </a:r>
            <a:r>
              <a:rPr sz="1600">
                <a:solidFill>
                  <a:srgbClr val="4A515B"/>
                </a:solidFill>
                <a:latin typeface="Segoe UI"/>
              </a:rPr>
              <a:t>Usuarios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BFE"/>
            </a:gs>
            <a:gs pos="100000">
              <a:srgbClr val="EEF5FB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>
              <a:gd name="adj" fmla="val 6000"/>
            </a:avLst>
          </a:prstGeom>
          <a:solidFill>
            <a:srgbClr val="0A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post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1440" y="18288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6446520"/>
            <a:ext cx="12191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A929C"/>
                </a:solidFill>
                <a:latin typeface="Segoe UI"/>
              </a:defRPr>
            </a:pPr>
            <a:r>
              <a:t>© POSTEKUSA 1999 - 2026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0A5FA5"/>
                </a:solidFill>
                <a:latin typeface="Segoe UI"/>
              </a:defRPr>
            </a:pPr>
            <a:r>
              <a:t>Modulo: Monitoreo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6984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</a:pPr>
            <a:r>
              <a:rPr sz="1800" b="1">
                <a:solidFill>
                  <a:srgbClr val="0A5FA5"/>
                </a:solidFill>
                <a:latin typeface="Segoe UI"/>
              </a:rPr>
              <a:t> •  </a:t>
            </a:r>
            <a:r>
              <a:rPr sz="1800" b="1">
                <a:solidFill>
                  <a:srgbClr val="14171C"/>
                </a:solidFill>
                <a:latin typeface="Segoe UI"/>
              </a:rPr>
              <a:t>Vista General</a:t>
            </a:r>
            <a:r>
              <a:rPr sz="1600" b="0">
                <a:solidFill>
                  <a:srgbClr val="4A515B"/>
                </a:solidFill>
                <a:latin typeface="Segoe UI"/>
              </a:rPr>
              <a:t> - Dashboard ejecutivo con KPIs, desglose por comercio, panel de atencion y mapa.</a:t>
            </a:r>
          </a:p>
          <a:p>
            <a:pPr>
              <a:spcAft>
                <a:spcPts val="2400"/>
              </a:spcAft>
            </a:pPr>
            <a:r>
              <a:rPr sz="1800" b="1">
                <a:solidFill>
                  <a:srgbClr val="0A5FA5"/>
                </a:solidFill>
                <a:latin typeface="Segoe UI"/>
              </a:rPr>
              <a:t> •  </a:t>
            </a:r>
            <a:r>
              <a:rPr sz="1800" b="1">
                <a:solidFill>
                  <a:srgbClr val="14171C"/>
                </a:solidFill>
                <a:latin typeface="Segoe UI"/>
              </a:rPr>
              <a:t>Dispositivos</a:t>
            </a:r>
            <a:r>
              <a:rPr sz="1600" b="0">
                <a:solidFill>
                  <a:srgbClr val="4A515B"/>
                </a:solidFill>
                <a:latin typeface="Segoe UI"/>
              </a:rPr>
              <a:t> - Listado completo de la flota con detalle individual de bateria, red y telemetria.</a:t>
            </a:r>
          </a:p>
          <a:p>
            <a:pPr>
              <a:spcAft>
                <a:spcPts val="2400"/>
              </a:spcAft>
            </a:pPr>
            <a:r>
              <a:rPr sz="1800" b="1">
                <a:solidFill>
                  <a:srgbClr val="0A5FA5"/>
                </a:solidFill>
                <a:latin typeface="Segoe UI"/>
              </a:rPr>
              <a:t> •  </a:t>
            </a:r>
            <a:r>
              <a:rPr sz="1800" b="1">
                <a:solidFill>
                  <a:srgbClr val="14171C"/>
                </a:solidFill>
                <a:latin typeface="Segoe UI"/>
              </a:rPr>
              <a:t>Mapa</a:t>
            </a:r>
            <a:r>
              <a:rPr sz="1600" b="0">
                <a:solidFill>
                  <a:srgbClr val="4A515B"/>
                </a:solidFill>
                <a:latin typeface="Segoe UI"/>
              </a:rPr>
              <a:t> - Mapa interactivo de pantalla completa (Leaflet) con ubicacion de todos los equipos en tiempo real.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BFE"/>
            </a:gs>
            <a:gs pos="100000">
              <a:srgbClr val="EEF5FB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>
              <a:gd name="adj" fmla="val 6000"/>
            </a:avLst>
          </a:prstGeom>
          <a:solidFill>
            <a:srgbClr val="0A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post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1440" y="18288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6446520"/>
            <a:ext cx="12191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A929C"/>
                </a:solidFill>
                <a:latin typeface="Segoe UI"/>
              </a:defRPr>
            </a:pPr>
            <a:r>
              <a:t>© POSTEKUSA 1999 - 2026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084A82"/>
                </a:solidFill>
                <a:latin typeface="Segoe UI"/>
              </a:defRPr>
            </a:pPr>
            <a:r>
              <a:t>Modulo: Administracion (Parte 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6984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A5FA5"/>
                </a:solidFill>
                <a:latin typeface="Segoe UI"/>
              </a:rPr>
              <a:t> •  </a:t>
            </a:r>
            <a:r>
              <a:rPr sz="1600" b="1">
                <a:solidFill>
                  <a:srgbClr val="14171C"/>
                </a:solidFill>
                <a:latin typeface="Segoe UI"/>
              </a:rPr>
              <a:t>Marcas</a:t>
            </a:r>
            <a:r>
              <a:rPr sz="1500" b="0">
                <a:solidFill>
                  <a:srgbClr val="4A515B"/>
                </a:solidFill>
                <a:latin typeface="Segoe UI"/>
              </a:rPr>
              <a:t> - Catalogo maestro de marcas, modelos, proveedores y accesorios.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A5FA5"/>
                </a:solidFill>
                <a:latin typeface="Segoe UI"/>
              </a:rPr>
              <a:t> •  </a:t>
            </a:r>
            <a:r>
              <a:rPr sz="1600" b="1">
                <a:solidFill>
                  <a:srgbClr val="14171C"/>
                </a:solidFill>
                <a:latin typeface="Segoe UI"/>
              </a:rPr>
              <a:t>Compras</a:t>
            </a:r>
            <a:r>
              <a:rPr sz="1500" b="0">
                <a:solidFill>
                  <a:srgbClr val="4A515B"/>
                </a:solidFill>
                <a:latin typeface="Segoe UI"/>
              </a:rPr>
              <a:t> - Registro y seguimiento de ordenes de compra a proveedores.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A5FA5"/>
                </a:solidFill>
                <a:latin typeface="Segoe UI"/>
              </a:rPr>
              <a:t> •  </a:t>
            </a:r>
            <a:r>
              <a:rPr sz="1600" b="1">
                <a:solidFill>
                  <a:srgbClr val="14171C"/>
                </a:solidFill>
                <a:latin typeface="Segoe UI"/>
              </a:rPr>
              <a:t>Recepcion</a:t>
            </a:r>
            <a:r>
              <a:rPr sz="1500" b="0">
                <a:solidFill>
                  <a:srgbClr val="4A515B"/>
                </a:solidFill>
                <a:latin typeface="Segoe UI"/>
              </a:rPr>
              <a:t> - Ingreso de nuevos equipos al inventario, individual o carga masiva (CSV).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A5FA5"/>
                </a:solidFill>
                <a:latin typeface="Segoe UI"/>
              </a:rPr>
              <a:t> •  </a:t>
            </a:r>
            <a:r>
              <a:rPr sz="1600" b="1">
                <a:solidFill>
                  <a:srgbClr val="14171C"/>
                </a:solidFill>
                <a:latin typeface="Segoe UI"/>
              </a:rPr>
              <a:t>Inventario</a:t>
            </a:r>
            <a:r>
              <a:rPr sz="1500" b="0">
                <a:solidFill>
                  <a:srgbClr val="4A515B"/>
                </a:solidFill>
                <a:latin typeface="Segoe UI"/>
              </a:rPr>
              <a:t> - Vista centralizada del stock de terminales y su ubicacion actual.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A5FA5"/>
                </a:solidFill>
                <a:latin typeface="Segoe UI"/>
              </a:rPr>
              <a:t> •  </a:t>
            </a:r>
            <a:r>
              <a:rPr sz="1600" b="1">
                <a:solidFill>
                  <a:srgbClr val="14171C"/>
                </a:solidFill>
                <a:latin typeface="Segoe UI"/>
              </a:rPr>
              <a:t>Comercios</a:t>
            </a:r>
            <a:r>
              <a:rPr sz="1500" b="0">
                <a:solidFill>
                  <a:srgbClr val="4A515B"/>
                </a:solidFill>
                <a:latin typeface="Segoe UI"/>
              </a:rPr>
              <a:t> - Administracion de clientes / comercios afiliados a la red.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A5FA5"/>
                </a:solidFill>
                <a:latin typeface="Segoe UI"/>
              </a:rPr>
              <a:t> •  </a:t>
            </a:r>
            <a:r>
              <a:rPr sz="1600" b="1">
                <a:solidFill>
                  <a:srgbClr val="14171C"/>
                </a:solidFill>
                <a:latin typeface="Segoe UI"/>
              </a:rPr>
              <a:t>Vista General</a:t>
            </a:r>
            <a:r>
              <a:rPr sz="1500" b="0">
                <a:solidFill>
                  <a:srgbClr val="4A515B"/>
                </a:solidFill>
                <a:latin typeface="Segoe UI"/>
              </a:rPr>
              <a:t> - Dashboard especifico del ciclo de vida de los equipos.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A5FA5"/>
                </a:solidFill>
                <a:latin typeface="Segoe UI"/>
              </a:rPr>
              <a:t> •  </a:t>
            </a:r>
            <a:r>
              <a:rPr sz="1600" b="1">
                <a:solidFill>
                  <a:srgbClr val="14171C"/>
                </a:solidFill>
                <a:latin typeface="Segoe UI"/>
              </a:rPr>
              <a:t>Bodega</a:t>
            </a:r>
            <a:r>
              <a:rPr sz="1500" b="0">
                <a:solidFill>
                  <a:srgbClr val="4A515B"/>
                </a:solidFill>
                <a:latin typeface="Segoe UI"/>
              </a:rPr>
              <a:t> - Control de los equipos recien ingresados listos para preparacion.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A5FA5"/>
                </a:solidFill>
                <a:latin typeface="Segoe UI"/>
              </a:rPr>
              <a:t> •  </a:t>
            </a:r>
            <a:r>
              <a:rPr sz="1600" b="1">
                <a:solidFill>
                  <a:srgbClr val="14171C"/>
                </a:solidFill>
                <a:latin typeface="Segoe UI"/>
              </a:rPr>
              <a:t>Inyeccion</a:t>
            </a:r>
            <a:r>
              <a:rPr sz="1500" b="0">
                <a:solidFill>
                  <a:srgbClr val="4A515B"/>
                </a:solidFill>
                <a:latin typeface="Segoe UI"/>
              </a:rPr>
              <a:t> - Equipos en proceso de configuracion de software y parametros.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A5FA5"/>
                </a:solidFill>
                <a:latin typeface="Segoe UI"/>
              </a:rPr>
              <a:t> •  </a:t>
            </a:r>
            <a:r>
              <a:rPr sz="1600" b="1">
                <a:solidFill>
                  <a:srgbClr val="14171C"/>
                </a:solidFill>
                <a:latin typeface="Segoe UI"/>
              </a:rPr>
              <a:t>Asignados</a:t>
            </a:r>
            <a:r>
              <a:rPr sz="1500" b="0">
                <a:solidFill>
                  <a:srgbClr val="4A515B"/>
                </a:solidFill>
                <a:latin typeface="Segoe UI"/>
              </a:rPr>
              <a:t> - Control de los equipos entregados a supervisores y tecnicos en campo.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BFE"/>
            </a:gs>
            <a:gs pos="100000">
              <a:srgbClr val="EEF5FB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>
              <a:gd name="adj" fmla="val 6000"/>
            </a:avLst>
          </a:prstGeom>
          <a:solidFill>
            <a:srgbClr val="0A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post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1440" y="18288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6446520"/>
            <a:ext cx="12191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A929C"/>
                </a:solidFill>
                <a:latin typeface="Segoe UI"/>
              </a:defRPr>
            </a:pPr>
            <a:r>
              <a:t>© POSTEKUSA 1999 - 2026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084A82"/>
                </a:solidFill>
                <a:latin typeface="Segoe UI"/>
              </a:defRPr>
            </a:pPr>
            <a:r>
              <a:t>Modulo: Administracion (Parte 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6984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A5FA5"/>
                </a:solidFill>
                <a:latin typeface="Segoe UI"/>
              </a:rPr>
              <a:t> •  </a:t>
            </a:r>
            <a:r>
              <a:rPr sz="1600" b="1">
                <a:solidFill>
                  <a:srgbClr val="14171C"/>
                </a:solidFill>
                <a:latin typeface="Segoe UI"/>
              </a:rPr>
              <a:t>Reparacion</a:t>
            </a:r>
            <a:r>
              <a:rPr sz="1500" b="0">
                <a:solidFill>
                  <a:srgbClr val="4A515B"/>
                </a:solidFill>
                <a:latin typeface="Segoe UI"/>
              </a:rPr>
              <a:t> - Gestion de terminales averiadas, con resolucion de diagnostico.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A5FA5"/>
                </a:solidFill>
                <a:latin typeface="Segoe UI"/>
              </a:rPr>
              <a:t> •  </a:t>
            </a:r>
            <a:r>
              <a:rPr sz="1600" b="1">
                <a:solidFill>
                  <a:srgbClr val="14171C"/>
                </a:solidFill>
                <a:latin typeface="Segoe UI"/>
              </a:rPr>
              <a:t>Garantia</a:t>
            </a:r>
            <a:r>
              <a:rPr sz="1500" b="0">
                <a:solidFill>
                  <a:srgbClr val="4A515B"/>
                </a:solidFill>
                <a:latin typeface="Segoe UI"/>
              </a:rPr>
              <a:t> - Control de equipos enviados a fabrica y sustitucion de series.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A5FA5"/>
                </a:solidFill>
                <a:latin typeface="Segoe UI"/>
              </a:rPr>
              <a:t> •  </a:t>
            </a:r>
            <a:r>
              <a:rPr sz="1600" b="1">
                <a:solidFill>
                  <a:srgbClr val="14171C"/>
                </a:solidFill>
                <a:latin typeface="Segoe UI"/>
              </a:rPr>
              <a:t>SIM Cards</a:t>
            </a:r>
            <a:r>
              <a:rPr sz="1500" b="0">
                <a:solidFill>
                  <a:srgbClr val="4A515B"/>
                </a:solidFill>
                <a:latin typeface="Segoe UI"/>
              </a:rPr>
              <a:t> - Inventario total de conectividad por compañia y estado.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A5FA5"/>
                </a:solidFill>
                <a:latin typeface="Segoe UI"/>
              </a:rPr>
              <a:t> •  </a:t>
            </a:r>
            <a:r>
              <a:rPr sz="1600" b="1">
                <a:solidFill>
                  <a:srgbClr val="14171C"/>
                </a:solidFill>
                <a:latin typeface="Segoe UI"/>
              </a:rPr>
              <a:t>Subir Inventario</a:t>
            </a:r>
            <a:r>
              <a:rPr sz="1500" b="0">
                <a:solidFill>
                  <a:srgbClr val="4A515B"/>
                </a:solidFill>
                <a:latin typeface="Segoe UI"/>
              </a:rPr>
              <a:t> - Importacion masiva de series desde archivos CSV/JSON.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A5FA5"/>
                </a:solidFill>
                <a:latin typeface="Segoe UI"/>
              </a:rPr>
              <a:t> •  </a:t>
            </a:r>
            <a:r>
              <a:rPr sz="1600" b="1">
                <a:solidFill>
                  <a:srgbClr val="14171C"/>
                </a:solidFill>
                <a:latin typeface="Segoe UI"/>
              </a:rPr>
              <a:t>Merchant Config</a:t>
            </a:r>
            <a:r>
              <a:rPr sz="1500" b="0">
                <a:solidFill>
                  <a:srgbClr val="4A515B"/>
                </a:solidFill>
                <a:latin typeface="Segoe UI"/>
              </a:rPr>
              <a:t> - Registros operativos y de configuracion comercial de la terminal.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A5FA5"/>
                </a:solidFill>
                <a:latin typeface="Segoe UI"/>
              </a:rPr>
              <a:t> •  </a:t>
            </a:r>
            <a:r>
              <a:rPr sz="1600" b="1">
                <a:solidFill>
                  <a:srgbClr val="14171C"/>
                </a:solidFill>
                <a:latin typeface="Segoe UI"/>
              </a:rPr>
              <a:t>Inicializaciones</a:t>
            </a:r>
            <a:r>
              <a:rPr sz="1500" b="0">
                <a:solidFill>
                  <a:srgbClr val="4A515B"/>
                </a:solidFill>
                <a:latin typeface="Segoe UI"/>
              </a:rPr>
              <a:t> - Registro de inicializaciones de software y descargas de llaves.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A5FA5"/>
                </a:solidFill>
                <a:latin typeface="Segoe UI"/>
              </a:rPr>
              <a:t> •  </a:t>
            </a:r>
            <a:r>
              <a:rPr sz="1600" b="1">
                <a:solidFill>
                  <a:srgbClr val="14171C"/>
                </a:solidFill>
                <a:latin typeface="Segoe UI"/>
              </a:rPr>
              <a:t>Trafico</a:t>
            </a:r>
            <a:r>
              <a:rPr sz="1500" b="0">
                <a:solidFill>
                  <a:srgbClr val="4A515B"/>
                </a:solidFill>
                <a:latin typeface="Segoe UI"/>
              </a:rPr>
              <a:t> - Monitor en tiempo real de transacciones y mensajes ISO 8583.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A5FA5"/>
                </a:solidFill>
                <a:latin typeface="Segoe UI"/>
              </a:rPr>
              <a:t> •  </a:t>
            </a:r>
            <a:r>
              <a:rPr sz="1600" b="1">
                <a:solidFill>
                  <a:srgbClr val="14171C"/>
                </a:solidFill>
                <a:latin typeface="Segoe UI"/>
              </a:rPr>
              <a:t>Requisiciones</a:t>
            </a:r>
            <a:r>
              <a:rPr sz="1500" b="0">
                <a:solidFill>
                  <a:srgbClr val="4A515B"/>
                </a:solidFill>
                <a:latin typeface="Segoe UI"/>
              </a:rPr>
              <a:t> - Sistema interno de solicitudes para equipo y activo fijo.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A5FA5"/>
                </a:solidFill>
                <a:latin typeface="Segoe UI"/>
              </a:rPr>
              <a:t> •  </a:t>
            </a:r>
            <a:r>
              <a:rPr sz="1600" b="1">
                <a:solidFill>
                  <a:srgbClr val="14171C"/>
                </a:solidFill>
                <a:latin typeface="Segoe UI"/>
              </a:rPr>
              <a:t>Soporte</a:t>
            </a:r>
            <a:r>
              <a:rPr sz="1500" b="0">
                <a:solidFill>
                  <a:srgbClr val="4A515B"/>
                </a:solidFill>
                <a:latin typeface="Segoe UI"/>
              </a:rPr>
              <a:t> - Tickets de incidencia para control y seguimiento tecnico.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A5FA5"/>
                </a:solidFill>
                <a:latin typeface="Segoe UI"/>
              </a:rPr>
              <a:t> •  </a:t>
            </a:r>
            <a:r>
              <a:rPr sz="1600" b="1">
                <a:solidFill>
                  <a:srgbClr val="14171C"/>
                </a:solidFill>
                <a:latin typeface="Segoe UI"/>
              </a:rPr>
              <a:t>Usuarios</a:t>
            </a:r>
            <a:r>
              <a:rPr sz="1500" b="0">
                <a:solidFill>
                  <a:srgbClr val="4A515B"/>
                </a:solidFill>
                <a:latin typeface="Segoe UI"/>
              </a:rPr>
              <a:t> - Gestion de credenciales y roles del sistema.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BFE"/>
            </a:gs>
            <a:gs pos="100000">
              <a:srgbClr val="EEF5FB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>
              <a:gd name="adj" fmla="val 6000"/>
            </a:avLst>
          </a:prstGeom>
          <a:solidFill>
            <a:srgbClr val="0A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post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1440" y="18288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6446520"/>
            <a:ext cx="12191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A929C"/>
                </a:solidFill>
                <a:latin typeface="Segoe UI"/>
              </a:defRPr>
            </a:pPr>
            <a:r>
              <a:t>© POSTEKUSA 1999 - 2026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01168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4171C"/>
                </a:solidFill>
                <a:latin typeface="Segoe UI"/>
              </a:defRPr>
            </a:pPr>
            <a:r>
              <a:t>Acceso a la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24247" y="320040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64748B"/>
                </a:solidFill>
                <a:latin typeface="Segoe UI"/>
                <a:hlinkClick r:id="rId3"/>
              </a:rPr>
              <a:t>ENTRAR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3891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929C"/>
                </a:solidFill>
                <a:latin typeface="Segoe UI"/>
              </a:defRPr>
            </a:pPr>
            <a:r>
              <a:t>Enlace directo: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66344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A5FA5"/>
                </a:solidFill>
                <a:latin typeface="Consolas"/>
              </a:defRPr>
            </a:pPr>
            <a:r>
              <a:t>https://postekusa.github.io/sentinel-frontend-web/dashboard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